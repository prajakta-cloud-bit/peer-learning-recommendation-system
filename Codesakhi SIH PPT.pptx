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8" r:id="rId5"/>
    <p:sldId id="293" r:id="rId6"/>
    <p:sldId id="294" r:id="rId7"/>
    <p:sldId id="296" r:id="rId8"/>
    <p:sldId id="297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2168-F5D2-DB39-0E4D-E0A6AA0F9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D94A61CA-E3DD-083A-D22C-76BEE7ECB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7DFE5972-4CE7-5B04-32C6-4FBB633C12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7AA1CBB-551A-2E31-E9DA-BB37D91C1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613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Sitka Banner Semibold" pitchFamily="2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Sitka Banner Semibold" pitchFamily="2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Sitka Banner Semibold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064" y="-38767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5163" y="1502395"/>
            <a:ext cx="5924550" cy="5055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18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b="1" u="sng" dirty="0"/>
              <a:t>Peer Learning Recommendation System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Education &amp; Smart Learning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ID- 02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Codesakhi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Sitka Banner Semibold" pitchFamily="2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944718-7A94-18A0-046D-329B9188D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" y="133794"/>
            <a:ext cx="2025445" cy="1271754"/>
          </a:xfrm>
          <a:prstGeom prst="ellipse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EB078E7-DBE7-E4DD-5DA9-F2C67F3EC612}"/>
              </a:ext>
            </a:extLst>
          </p:cNvPr>
          <p:cNvSpPr/>
          <p:nvPr/>
        </p:nvSpPr>
        <p:spPr>
          <a:xfrm>
            <a:off x="182998" y="1701127"/>
            <a:ext cx="3936718" cy="439108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US" sz="2400" b="1" u="sng" dirty="0">
                <a:latin typeface="Arial" pitchFamily="34" charset="0"/>
                <a:cs typeface="Arial" pitchFamily="34" charset="0"/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IN" sz="2000" dirty="0"/>
              <a:t>Students often struggle not because learning resources are unavailable, but because they cannot easily find the right peer to learn from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EE3586-D8FC-949E-66D2-299AC449A392}"/>
              </a:ext>
            </a:extLst>
          </p:cNvPr>
          <p:cNvSpPr/>
          <p:nvPr/>
        </p:nvSpPr>
        <p:spPr>
          <a:xfrm>
            <a:off x="4353487" y="1531574"/>
            <a:ext cx="7655515" cy="46866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 </a:t>
            </a:r>
            <a:r>
              <a:rPr lang="en-IN" sz="2000" b="1" u="sng" dirty="0"/>
              <a:t>SOLUTION</a:t>
            </a:r>
          </a:p>
          <a:p>
            <a:r>
              <a:rPr lang="en-IN" b="1" dirty="0"/>
              <a:t>To solve this problem, </a:t>
            </a:r>
            <a:r>
              <a:rPr lang="en-IN" b="1" dirty="0" err="1"/>
              <a:t>CodeSakhi</a:t>
            </a:r>
            <a:r>
              <a:rPr lang="en-IN" b="1" dirty="0"/>
              <a:t> has developed </a:t>
            </a:r>
            <a:r>
              <a:rPr lang="en-IN" b="1" dirty="0" err="1"/>
              <a:t>PeerMatch</a:t>
            </a:r>
            <a:r>
              <a:rPr lang="en-IN" b="1" dirty="0"/>
              <a:t> — a smart peer-learning platform that </a:t>
            </a:r>
            <a:r>
              <a:rPr lang="en-IN" b="1" dirty="0" err="1"/>
              <a:t>analyzes</a:t>
            </a:r>
            <a:r>
              <a:rPr lang="en-IN" b="1" dirty="0"/>
              <a:t> student portfolios and suggests the most suitable learning peer.</a:t>
            </a:r>
          </a:p>
          <a:p>
            <a:endParaRPr lang="en-IN" dirty="0"/>
          </a:p>
          <a:p>
            <a:pPr lvl="0"/>
            <a:r>
              <a:rPr lang="en-IN" b="1" dirty="0"/>
              <a:t>Mandatory Portfolio</a:t>
            </a:r>
            <a:r>
              <a:rPr lang="en-IN" dirty="0"/>
              <a:t>  – Students must create a portfolio during sign-up with their skills, goals, projects, and interests.</a:t>
            </a:r>
          </a:p>
          <a:p>
            <a:pPr lvl="0"/>
            <a:r>
              <a:rPr lang="en-IN" b="1" dirty="0"/>
              <a:t>AI Portfolio Analysis</a:t>
            </a:r>
            <a:r>
              <a:rPr lang="en-IN" dirty="0"/>
              <a:t>  – AI </a:t>
            </a:r>
            <a:r>
              <a:rPr lang="en-IN" dirty="0" err="1"/>
              <a:t>analyzes</a:t>
            </a:r>
            <a:r>
              <a:rPr lang="en-IN" dirty="0"/>
              <a:t> the portfolio and suggests the best compatible peer.</a:t>
            </a:r>
          </a:p>
          <a:p>
            <a:pPr lvl="0"/>
            <a:r>
              <a:rPr lang="en-IN" b="1" dirty="0"/>
              <a:t>Focused AI Chatbot</a:t>
            </a:r>
            <a:r>
              <a:rPr lang="en-IN" dirty="0"/>
              <a:t>  – A dedicated chatbot for </a:t>
            </a:r>
            <a:r>
              <a:rPr lang="en-IN" dirty="0" err="1"/>
              <a:t>PeerMatch</a:t>
            </a:r>
            <a:r>
              <a:rPr lang="en-IN" dirty="0"/>
              <a:t>, learning, and recommendation-related questions.</a:t>
            </a:r>
          </a:p>
          <a:p>
            <a:pPr lvl="0"/>
            <a:r>
              <a:rPr lang="en-IN" b="1" dirty="0"/>
              <a:t>Portfolio &amp; Progress Update</a:t>
            </a:r>
            <a:r>
              <a:rPr lang="en-IN" dirty="0"/>
              <a:t> – Students can update their skills, projects, and achievements regularly.</a:t>
            </a:r>
          </a:p>
          <a:p>
            <a:pPr lvl="0"/>
            <a:r>
              <a:rPr lang="en-IN" b="1" dirty="0"/>
              <a:t>MCQ Skill Assessment</a:t>
            </a:r>
            <a:r>
              <a:rPr lang="en-IN" dirty="0"/>
              <a:t> – MCQ-based assessments help evaluate skills and improve future recommendations.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Sitka Banner Semibold" pitchFamily="2" charset="0"/>
                <a:ea typeface="ＭＳ Ｐゴシック" pitchFamily="1" charset="-128"/>
                <a:cs typeface="Times New Roman" panose="02020603050405020304" pitchFamily="18" charset="0"/>
              </a:rPr>
              <a:t>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90FC63-E9EE-70F5-9838-6CC5A96EF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" y="133794"/>
            <a:ext cx="2025445" cy="1271754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0C1A82-97F8-B840-819B-64672E9E1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49" y="1554846"/>
            <a:ext cx="2427941" cy="4308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CDBF2B-AF8C-54DA-86CA-9D69BDDB78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5671" y="1554845"/>
            <a:ext cx="2427941" cy="43089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69B022-6B0C-6874-159A-608593F98F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2393" y="1554845"/>
            <a:ext cx="2427941" cy="43089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1ED5245-9907-D2B8-794D-701FA63EBF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9115" y="1554845"/>
            <a:ext cx="2429974" cy="43089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DF1FB1-6719-3B8A-E3E2-E06EEA3068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9161" y="1554844"/>
            <a:ext cx="1933948" cy="43089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BB263-5B2B-34D7-E866-C812E0EBF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4B929EF-466A-E81A-FAE7-0A6C8F4B5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4B199CAA-9DA0-D470-15AA-0A123426D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Sitka Banner Semibold" pitchFamily="2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3F948-6721-F81E-97B6-6150C4EE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12D0ACA-7078-B5C2-305F-1E1A7BA2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B34B64DA-58B8-DAB4-4067-E4EBC7F83CF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18B7C0-15E5-371B-02D8-5F8461D41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439527-3FB0-43CE-69E8-380269492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" y="133794"/>
            <a:ext cx="2025445" cy="1271754"/>
          </a:xfrm>
          <a:prstGeom prst="ellipse">
            <a:avLst/>
          </a:prstGeom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9B235D23-AC9F-7293-5DB2-760FC0D1E6D2}"/>
              </a:ext>
            </a:extLst>
          </p:cNvPr>
          <p:cNvSpPr/>
          <p:nvPr/>
        </p:nvSpPr>
        <p:spPr>
          <a:xfrm>
            <a:off x="538316" y="1524000"/>
            <a:ext cx="11346426" cy="4694240"/>
          </a:xfrm>
          <a:prstGeom prst="round2Same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580152A-C17E-4D13-DD7A-39737E94E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206CDBC6-A5B3-54C3-FBFE-5DCACDAFD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491" y="2024460"/>
            <a:ext cx="5334000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HTML5, CSS &amp; JavaScript – Simple, user-friendly interface.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Node.js – Handles data processing and application logic.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PostgreSQL 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pgvector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student profiles and supports similarity matching.</a:t>
            </a:r>
          </a:p>
          <a:p>
            <a:pPr algn="just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E6F25D-BE00-EBF9-46AE-E86E499A8B49}"/>
              </a:ext>
            </a:extLst>
          </p:cNvPr>
          <p:cNvSpPr txBox="1"/>
          <p:nvPr/>
        </p:nvSpPr>
        <p:spPr>
          <a:xfrm>
            <a:off x="6479458" y="2024460"/>
            <a:ext cx="54077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Matching: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skills, interests &amp; learning gaps to find suitable peers.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MCQ-based tests to evaluate and verify student skills. 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instant guidance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PeerMatch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support.</a:t>
            </a:r>
          </a:p>
          <a:p>
            <a:endParaRPr lang="en-IN" dirty="0"/>
          </a:p>
        </p:txBody>
      </p:sp>
      <p:pic>
        <p:nvPicPr>
          <p:cNvPr id="18" name="Graphic 17" descr="Internet with solid fill">
            <a:extLst>
              <a:ext uri="{FF2B5EF4-FFF2-40B4-BE49-F238E27FC236}">
                <a16:creationId xmlns:a16="http://schemas.microsoft.com/office/drawing/2014/main" id="{AAA959A8-D938-BCF9-D7AF-E5D4E06A7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250" y="4685981"/>
            <a:ext cx="1128822" cy="135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023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6D470F-A9CF-2E99-D62B-B86ADAEC0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108309"/>
            <a:ext cx="1661652" cy="951271"/>
          </a:xfrm>
          <a:prstGeom prst="ellipse">
            <a:avLst/>
          </a:prstGeom>
        </p:spPr>
      </p:pic>
      <p:sp>
        <p:nvSpPr>
          <p:cNvPr id="4" name="Rectangle: Diagonal Corners Rounded 3">
            <a:extLst>
              <a:ext uri="{FF2B5EF4-FFF2-40B4-BE49-F238E27FC236}">
                <a16:creationId xmlns:a16="http://schemas.microsoft.com/office/drawing/2014/main" id="{DD4DFF26-AC11-2F25-2346-E378198EC681}"/>
              </a:ext>
            </a:extLst>
          </p:cNvPr>
          <p:cNvSpPr/>
          <p:nvPr/>
        </p:nvSpPr>
        <p:spPr>
          <a:xfrm>
            <a:off x="176981" y="2286872"/>
            <a:ext cx="3569110" cy="3455167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/>
          </a:p>
          <a:p>
            <a:r>
              <a:rPr lang="en-IN" b="1" dirty="0">
                <a:latin typeface="Bookman Old Style" panose="02050604050505020204" pitchFamily="18" charset="0"/>
              </a:rPr>
              <a:t>1. Feasibility of the Idea</a:t>
            </a:r>
            <a:endParaRPr lang="en-IN" dirty="0">
              <a:latin typeface="Bookman Old Style" panose="02050604050505020204" pitchFamily="18" charset="0"/>
            </a:endParaRPr>
          </a:p>
          <a:p>
            <a:pPr lvl="0"/>
            <a:r>
              <a:rPr lang="en-IN" dirty="0">
                <a:latin typeface="Bookman Old Style" panose="02050604050505020204" pitchFamily="18" charset="0"/>
              </a:rPr>
              <a:t>Web-based system, accessible on mobile and basic PCs. </a:t>
            </a:r>
          </a:p>
          <a:p>
            <a:pPr lvl="0"/>
            <a:r>
              <a:rPr lang="en-IN" dirty="0">
                <a:latin typeface="Bookman Old Style" panose="02050604050505020204" pitchFamily="18" charset="0"/>
              </a:rPr>
              <a:t>Uses available technologies like HTML, Python, PostgreSQL and JavaScript. </a:t>
            </a:r>
          </a:p>
          <a:p>
            <a:pPr lvl="0"/>
            <a:r>
              <a:rPr lang="en-IN" dirty="0">
                <a:latin typeface="Bookman Old Style" panose="02050604050505020204" pitchFamily="18" charset="0"/>
              </a:rPr>
              <a:t>Easy to develop, maintain and scale.</a:t>
            </a:r>
          </a:p>
          <a:p>
            <a:pPr algn="ctr"/>
            <a:endParaRPr lang="en-IN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A201226D-1EDA-EB4F-2F1C-F706597C4A88}"/>
              </a:ext>
            </a:extLst>
          </p:cNvPr>
          <p:cNvSpPr/>
          <p:nvPr/>
        </p:nvSpPr>
        <p:spPr>
          <a:xfrm>
            <a:off x="4018364" y="2286871"/>
            <a:ext cx="3801310" cy="345516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Bookman Old Style" panose="02050604050505020204" pitchFamily="18" charset="0"/>
              </a:rPr>
              <a:t>2. Potential Challenges &amp; Risks</a:t>
            </a:r>
            <a:endParaRPr lang="en-IN" dirty="0">
              <a:latin typeface="Bookman Old Style" panose="02050604050505020204" pitchFamily="18" charset="0"/>
            </a:endParaRPr>
          </a:p>
          <a:p>
            <a:pPr lvl="0"/>
            <a:r>
              <a:rPr lang="en-IN" dirty="0">
                <a:latin typeface="Bookman Old Style" panose="02050604050505020204" pitchFamily="18" charset="0"/>
              </a:rPr>
              <a:t>New users may have limited profile information. </a:t>
            </a:r>
          </a:p>
          <a:p>
            <a:pPr lvl="0"/>
            <a:r>
              <a:rPr lang="en-IN" dirty="0">
                <a:latin typeface="Bookman Old Style" panose="02050604050505020204" pitchFamily="18" charset="0"/>
              </a:rPr>
              <a:t>Students may try to cheat in skill assessments. </a:t>
            </a:r>
          </a:p>
          <a:p>
            <a:pPr lvl="0"/>
            <a:r>
              <a:rPr lang="en-IN" dirty="0">
                <a:latin typeface="Bookman Old Style" panose="02050604050505020204" pitchFamily="18" charset="0"/>
              </a:rPr>
              <a:t>Student data and scores need privacy protection.</a:t>
            </a:r>
          </a:p>
          <a:p>
            <a:pPr algn="ctr"/>
            <a:endParaRPr lang="en-IN" dirty="0"/>
          </a:p>
        </p:txBody>
      </p:sp>
      <p:sp>
        <p:nvSpPr>
          <p:cNvPr id="8" name="Rectangle: Diagonal Corners Rounded 7">
            <a:extLst>
              <a:ext uri="{FF2B5EF4-FFF2-40B4-BE49-F238E27FC236}">
                <a16:creationId xmlns:a16="http://schemas.microsoft.com/office/drawing/2014/main" id="{9EE560D4-6EDF-914B-96C4-1B832895F92A}"/>
              </a:ext>
            </a:extLst>
          </p:cNvPr>
          <p:cNvSpPr/>
          <p:nvPr/>
        </p:nvSpPr>
        <p:spPr>
          <a:xfrm>
            <a:off x="8091947" y="2286871"/>
            <a:ext cx="3923071" cy="3455168"/>
          </a:xfrm>
          <a:prstGeom prst="round2Diag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b="1" dirty="0"/>
          </a:p>
          <a:p>
            <a:r>
              <a:rPr lang="en-IN" b="1" dirty="0">
                <a:latin typeface="Bookman Old Style" panose="02050604050505020204" pitchFamily="18" charset="0"/>
              </a:rPr>
              <a:t>3. Strategies to Overcome Challenges</a:t>
            </a:r>
            <a:endParaRPr lang="en-IN" dirty="0">
              <a:latin typeface="Bookman Old Style" panose="02050604050505020204" pitchFamily="18" charset="0"/>
            </a:endParaRPr>
          </a:p>
          <a:p>
            <a:pPr lvl="0"/>
            <a:r>
              <a:rPr lang="en-IN" b="1" dirty="0">
                <a:latin typeface="Bookman Old Style" panose="02050604050505020204" pitchFamily="18" charset="0"/>
              </a:rPr>
              <a:t>Onboarding Test:</a:t>
            </a:r>
            <a:r>
              <a:rPr lang="en-IN" dirty="0">
                <a:latin typeface="Bookman Old Style" panose="02050604050505020204" pitchFamily="18" charset="0"/>
              </a:rPr>
              <a:t> Quickly identifies the student’s initial skill level. </a:t>
            </a:r>
          </a:p>
          <a:p>
            <a:pPr lvl="0"/>
            <a:r>
              <a:rPr lang="en-IN" b="1" dirty="0">
                <a:latin typeface="Bookman Old Style" panose="02050604050505020204" pitchFamily="18" charset="0"/>
              </a:rPr>
              <a:t>Anti-Cheating:</a:t>
            </a:r>
            <a:r>
              <a:rPr lang="en-IN" dirty="0">
                <a:latin typeface="Bookman Old Style" panose="02050604050505020204" pitchFamily="18" charset="0"/>
              </a:rPr>
              <a:t> Random questions and tab-switch detection. </a:t>
            </a:r>
          </a:p>
          <a:p>
            <a:pPr lvl="0"/>
            <a:r>
              <a:rPr lang="en-IN" b="1" dirty="0">
                <a:latin typeface="Bookman Old Style" panose="02050604050505020204" pitchFamily="18" charset="0"/>
              </a:rPr>
              <a:t>Privacy:</a:t>
            </a:r>
            <a:r>
              <a:rPr lang="en-IN" dirty="0">
                <a:latin typeface="Bookman Old Style" panose="02050604050505020204" pitchFamily="18" charset="0"/>
              </a:rPr>
              <a:t> Keep personal scores private and show only verified skills.</a:t>
            </a:r>
          </a:p>
          <a:p>
            <a:pPr algn="ctr"/>
            <a:endParaRPr lang="en-IN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9EE0FE6-A1C6-545F-C2B8-DD3DF166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131" y="-27039"/>
            <a:ext cx="8628908" cy="950097"/>
          </a:xfrm>
        </p:spPr>
        <p:txBody>
          <a:bodyPr/>
          <a:lstStyle/>
          <a:p>
            <a:r>
              <a:rPr lang="en-US" sz="4000" b="1" dirty="0">
                <a:latin typeface="Sitka Banner Semibold" pitchFamily="2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sz="4000" dirty="0">
              <a:latin typeface="Sitka Banner Semibold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8CDD61-53B5-91A5-6EA2-EE7E8F963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79" y="1058406"/>
            <a:ext cx="11991539" cy="500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Sitka Banner Semibold" pitchFamily="2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F4C68D-9F0C-4F39-60C7-13705EF5E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" y="43842"/>
            <a:ext cx="2025445" cy="1271754"/>
          </a:xfrm>
          <a:prstGeom prst="ellipse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EF6DB5-2EA0-4F8D-8702-2837A4119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07" y="1407062"/>
            <a:ext cx="10609006" cy="48111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7CE7E57-C19D-531E-79B2-ED08FE160DBE}"/>
              </a:ext>
            </a:extLst>
          </p:cNvPr>
          <p:cNvSpPr/>
          <p:nvPr/>
        </p:nvSpPr>
        <p:spPr>
          <a:xfrm>
            <a:off x="1573162" y="1720645"/>
            <a:ext cx="9173496" cy="3539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Sitka Banner Semibold" pitchFamily="2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E88179-4B8D-983C-5973-C955A464F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39" y="81570"/>
            <a:ext cx="2025445" cy="1271754"/>
          </a:xfrm>
          <a:prstGeom prst="ellipse">
            <a:avLst/>
          </a:prstGeom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76E2604A-D969-B5B8-5B6C-0AC5BBEF7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1905B1EB-8A3F-5500-A780-6757D2E9E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9476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8F4D4FB5-DBDF-D008-3BDE-D44CCCEB2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885" y="1568426"/>
            <a:ext cx="11100228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sz="2000" b="1" u="sng" dirty="0">
                <a:latin typeface="Bell MT" panose="02020503060305020303" pitchFamily="18" charset="0"/>
              </a:rPr>
              <a:t>Peer Learning Research: </a:t>
            </a:r>
            <a:r>
              <a:rPr lang="en-IN" sz="2000" dirty="0">
                <a:latin typeface="Bell MT" panose="02020503060305020303" pitchFamily="18" charset="0"/>
              </a:rPr>
              <a:t>Topping (2005) – Peer learning supports collaboration, knowledge sharing and active learning. </a:t>
            </a:r>
          </a:p>
          <a:p>
            <a:pPr lvl="0"/>
            <a:endParaRPr lang="en-IN" sz="2000" dirty="0">
              <a:latin typeface="Bell MT" panose="02020503060305020303" pitchFamily="18" charset="0"/>
            </a:endParaRPr>
          </a:p>
          <a:p>
            <a:pPr lvl="0"/>
            <a:r>
              <a:rPr lang="en-IN" sz="2000" b="1" u="sng" dirty="0">
                <a:latin typeface="Bell MT" panose="02020503060305020303" pitchFamily="18" charset="0"/>
              </a:rPr>
              <a:t>Student Matching Research:</a:t>
            </a:r>
            <a:r>
              <a:rPr lang="en-IN" sz="2000" u="sng" dirty="0">
                <a:latin typeface="Bell MT" panose="02020503060305020303" pitchFamily="18" charset="0"/>
              </a:rPr>
              <a:t> </a:t>
            </a:r>
            <a:r>
              <a:rPr lang="en-IN" sz="2000" dirty="0">
                <a:latin typeface="Bell MT" panose="02020503060305020303" pitchFamily="18" charset="0"/>
              </a:rPr>
              <a:t>Similarity-based methods can be used to identify students with compatible skills, interests and learning needs. </a:t>
            </a:r>
          </a:p>
          <a:p>
            <a:pPr lvl="0"/>
            <a:endParaRPr lang="en-IN" sz="2000" dirty="0">
              <a:latin typeface="Bell MT" panose="02020503060305020303" pitchFamily="18" charset="0"/>
            </a:endParaRPr>
          </a:p>
          <a:p>
            <a:pPr lvl="0"/>
            <a:r>
              <a:rPr lang="en-IN" sz="2000" b="1" u="sng" dirty="0">
                <a:latin typeface="Bell MT" panose="02020503060305020303" pitchFamily="18" charset="0"/>
              </a:rPr>
              <a:t>Assessment Research:</a:t>
            </a:r>
            <a:r>
              <a:rPr lang="en-IN" sz="2000" u="sng" dirty="0">
                <a:latin typeface="Bell MT" panose="02020503060305020303" pitchFamily="18" charset="0"/>
              </a:rPr>
              <a:t> </a:t>
            </a:r>
            <a:r>
              <a:rPr lang="en-IN" sz="2000" dirty="0">
                <a:latin typeface="Bell MT" panose="02020503060305020303" pitchFamily="18" charset="0"/>
              </a:rPr>
              <a:t>MCQ-based assessments help evaluate and verify students’ knowledge and skill levels. </a:t>
            </a:r>
          </a:p>
          <a:p>
            <a:pPr lvl="0"/>
            <a:endParaRPr lang="en-IN" sz="2000" dirty="0">
              <a:latin typeface="Bell MT" panose="02020503060305020303" pitchFamily="18" charset="0"/>
            </a:endParaRPr>
          </a:p>
          <a:p>
            <a:pPr lvl="0"/>
            <a:r>
              <a:rPr lang="en-IN" sz="2000" b="1" u="sng" dirty="0">
                <a:latin typeface="Bell MT" panose="02020503060305020303" pitchFamily="18" charset="0"/>
              </a:rPr>
              <a:t>Technology References:</a:t>
            </a:r>
            <a:r>
              <a:rPr lang="en-IN" sz="2000" u="sng" dirty="0">
                <a:latin typeface="Bell MT" panose="02020503060305020303" pitchFamily="18" charset="0"/>
              </a:rPr>
              <a:t> </a:t>
            </a:r>
            <a:r>
              <a:rPr lang="en-IN" sz="2000" dirty="0">
                <a:latin typeface="Bell MT" panose="02020503060305020303" pitchFamily="18" charset="0"/>
              </a:rPr>
              <a:t>PostgreSQL, </a:t>
            </a:r>
            <a:r>
              <a:rPr lang="en-IN" sz="2000" dirty="0" err="1">
                <a:latin typeface="Bell MT" panose="02020503060305020303" pitchFamily="18" charset="0"/>
              </a:rPr>
              <a:t>pgvector</a:t>
            </a:r>
            <a:r>
              <a:rPr lang="en-IN" sz="2000" dirty="0">
                <a:latin typeface="Bell MT" panose="02020503060305020303" pitchFamily="18" charset="0"/>
              </a:rPr>
              <a:t>, </a:t>
            </a:r>
            <a:r>
              <a:rPr lang="en-IN" sz="2000" dirty="0" err="1">
                <a:latin typeface="Bell MT" panose="02020503060305020303" pitchFamily="18" charset="0"/>
              </a:rPr>
              <a:t>FastAPI</a:t>
            </a:r>
            <a:r>
              <a:rPr lang="en-IN" sz="2000" dirty="0">
                <a:latin typeface="Bell MT" panose="02020503060305020303" pitchFamily="18" charset="0"/>
              </a:rPr>
              <a:t>, HTML, CSS and JavaScript were referred to for system development. </a:t>
            </a:r>
          </a:p>
          <a:p>
            <a:pPr lvl="0"/>
            <a:endParaRPr lang="en-IN" sz="2000" dirty="0">
              <a:latin typeface="Bell MT" panose="02020503060305020303" pitchFamily="18" charset="0"/>
            </a:endParaRPr>
          </a:p>
          <a:p>
            <a:pPr lvl="0"/>
            <a:r>
              <a:rPr lang="en-IN" sz="2000" b="1" u="sng" dirty="0">
                <a:latin typeface="Bell MT" panose="02020503060305020303" pitchFamily="18" charset="0"/>
              </a:rPr>
              <a:t>Future Integration:</a:t>
            </a:r>
            <a:r>
              <a:rPr lang="en-IN" sz="2000" u="sng" dirty="0">
                <a:latin typeface="Bell MT" panose="02020503060305020303" pitchFamily="18" charset="0"/>
              </a:rPr>
              <a:t> </a:t>
            </a:r>
            <a:r>
              <a:rPr lang="en-IN" sz="2000" dirty="0">
                <a:latin typeface="Bell MT" panose="02020503060305020303" pitchFamily="18" charset="0"/>
              </a:rPr>
              <a:t>The system can be extended to integrate with college LMS platforms such as Moodle and Canvas. 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2317E3-AA3D-424A-5406-229E2EC03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64" y="133794"/>
            <a:ext cx="2025445" cy="1271754"/>
          </a:xfrm>
          <a:prstGeom prst="ellipse">
            <a:avLst/>
          </a:prstGeom>
        </p:spPr>
      </p:pic>
      <p:pic>
        <p:nvPicPr>
          <p:cNvPr id="9" name="Picture 8" descr="Black thank you Images - Free Download on Magnific (formerly Freepik)">
            <a:extLst>
              <a:ext uri="{FF2B5EF4-FFF2-40B4-BE49-F238E27FC236}">
                <a16:creationId xmlns:a16="http://schemas.microsoft.com/office/drawing/2014/main" id="{2C21FE05-3D4E-92EF-31EE-C0E8EC57F4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750" y="950656"/>
            <a:ext cx="70485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7727</TotalTime>
  <Words>530</Words>
  <Application>Microsoft Office PowerPoint</Application>
  <PresentationFormat>Widescreen</PresentationFormat>
  <Paragraphs>89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ＭＳ Ｐゴシック</vt:lpstr>
      <vt:lpstr>Arial</vt:lpstr>
      <vt:lpstr>Bell MT</vt:lpstr>
      <vt:lpstr>Bookman Old Style</vt:lpstr>
      <vt:lpstr>Calibri</vt:lpstr>
      <vt:lpstr>Garamond</vt:lpstr>
      <vt:lpstr>Sitka Banner Semibold</vt:lpstr>
      <vt:lpstr>Times New Roman</vt:lpstr>
      <vt:lpstr>TradeGothic</vt:lpstr>
      <vt:lpstr>Office Theme</vt:lpstr>
      <vt:lpstr>SMART INDIA HACKATHON 2026</vt:lpstr>
      <vt:lpstr> IDEA TITLE</vt:lpstr>
      <vt:lpstr>PROTOTYPE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Vaishnavi Dharekar</cp:lastModifiedBy>
  <cp:revision>150</cp:revision>
  <dcterms:created xsi:type="dcterms:W3CDTF">2013-12-12T18:46:50Z</dcterms:created>
  <dcterms:modified xsi:type="dcterms:W3CDTF">2026-09-08T18:54:18Z</dcterms:modified>
  <cp:category/>
</cp:coreProperties>
</file>